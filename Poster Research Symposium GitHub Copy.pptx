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76" r:id="rId5"/>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FCF4C"/>
    <a:srgbClr val="BA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18" d="100"/>
          <a:sy n="18" d="100"/>
        </p:scale>
        <p:origin x="1435" y="101"/>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53E237-CDE9-49D8-9EDC-F25164F265BC}" type="datetimeFigureOut">
              <a:rPr lang="en-US" smtClean="0"/>
              <a:t>5/9/2026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CE5BC-24F2-4919-B22D-85C6EE54EF32}" type="slidenum">
              <a:rPr lang="en-US" smtClean="0"/>
              <a:t>‹#›</a:t>
            </a:fld>
            <a:endParaRPr lang="en-US"/>
          </a:p>
        </p:txBody>
      </p:sp>
    </p:spTree>
    <p:extLst>
      <p:ext uri="{BB962C8B-B14F-4D97-AF65-F5344CB8AC3E}">
        <p14:creationId xmlns:p14="http://schemas.microsoft.com/office/powerpoint/2010/main" val="3359050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E8AAF-BEC0-8685-9EC1-734C6D425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34E71-A5FD-75AA-A86C-1DBD6E330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2ACE7E-BE60-41CC-E59D-69C55385D4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497764-9248-3E62-7CA4-24135199EABD}"/>
              </a:ext>
            </a:extLst>
          </p:cNvPr>
          <p:cNvSpPr>
            <a:spLocks noGrp="1"/>
          </p:cNvSpPr>
          <p:nvPr>
            <p:ph type="sldNum" sz="quarter" idx="5"/>
          </p:nvPr>
        </p:nvSpPr>
        <p:spPr/>
        <p:txBody>
          <a:bodyPr/>
          <a:lstStyle/>
          <a:p>
            <a:fld id="{0CBCE5BC-24F2-4919-B22D-85C6EE54EF32}" type="slidenum">
              <a:rPr lang="en-US" smtClean="0"/>
              <a:t>1</a:t>
            </a:fld>
            <a:endParaRPr lang="en-US"/>
          </a:p>
        </p:txBody>
      </p:sp>
    </p:spTree>
    <p:extLst>
      <p:ext uri="{BB962C8B-B14F-4D97-AF65-F5344CB8AC3E}">
        <p14:creationId xmlns:p14="http://schemas.microsoft.com/office/powerpoint/2010/main" val="3603985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366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889971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4139378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59595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16AF45-B0AE-498D-B9CF-DBC7F501CF27}" type="datetimeFigureOut">
              <a:rPr lang="en-US" smtClean="0"/>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2367025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16AF45-B0AE-498D-B9CF-DBC7F501CF27}" type="datetimeFigureOut">
              <a:rPr lang="en-US" smtClean="0"/>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697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16AF45-B0AE-498D-B9CF-DBC7F501CF27}" type="datetimeFigureOut">
              <a:rPr lang="en-US" smtClean="0"/>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71866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427643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C16AF45-B0AE-498D-B9CF-DBC7F501CF27}" type="datetimeFigureOut">
              <a:rPr lang="en-US" smtClean="0"/>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86126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69203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6AF45-B0AE-498D-B9CF-DBC7F501CF27}" type="datetimeFigureOut">
              <a:rPr lang="en-US" smtClean="0"/>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6FAD36-0A04-41BE-8A92-D415E38AE7E4}" type="slidenum">
              <a:rPr lang="en-US" smtClean="0"/>
              <a:t>‹#›</a:t>
            </a:fld>
            <a:endParaRPr lang="en-US"/>
          </a:p>
        </p:txBody>
      </p:sp>
    </p:spTree>
    <p:extLst>
      <p:ext uri="{BB962C8B-B14F-4D97-AF65-F5344CB8AC3E}">
        <p14:creationId xmlns:p14="http://schemas.microsoft.com/office/powerpoint/2010/main" val="152759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9C16AF45-B0AE-498D-B9CF-DBC7F501CF27}" type="datetimeFigureOut">
              <a:rPr lang="en-US" smtClean="0"/>
              <a:t>5/9/2026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1B6FAD36-0A04-41BE-8A92-D415E38AE7E4}" type="slidenum">
              <a:rPr lang="en-US" smtClean="0"/>
              <a:t>‹#›</a:t>
            </a:fld>
            <a:endParaRPr lang="en-US"/>
          </a:p>
        </p:txBody>
      </p:sp>
    </p:spTree>
    <p:extLst>
      <p:ext uri="{BB962C8B-B14F-4D97-AF65-F5344CB8AC3E}">
        <p14:creationId xmlns:p14="http://schemas.microsoft.com/office/powerpoint/2010/main" val="2474608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tif"/><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652D-BEDA-807C-4D94-DAD3E1F9D3C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7DC744F-96ED-916B-505B-7C30C9E7E77E}"/>
              </a:ext>
            </a:extLst>
          </p:cNvPr>
          <p:cNvSpPr/>
          <p:nvPr/>
        </p:nvSpPr>
        <p:spPr>
          <a:xfrm>
            <a:off x="0" y="-1"/>
            <a:ext cx="43891200" cy="5018404"/>
          </a:xfrm>
          <a:prstGeom prst="rect">
            <a:avLst/>
          </a:prstGeom>
          <a:gradFill flip="none" rotWithShape="1">
            <a:gsLst>
              <a:gs pos="0">
                <a:schemeClr val="accent2">
                  <a:lumMod val="0"/>
                  <a:lumOff val="100000"/>
                </a:schemeClr>
              </a:gs>
              <a:gs pos="100000">
                <a:schemeClr val="accent2">
                  <a:lumMod val="45000"/>
                  <a:lumOff val="55000"/>
                </a:schemeClr>
              </a:gs>
              <a:gs pos="97000">
                <a:schemeClr val="accent2">
                  <a:lumMod val="45000"/>
                  <a:lumOff val="55000"/>
                </a:schemeClr>
              </a:gs>
              <a:gs pos="100000">
                <a:schemeClr val="accent2">
                  <a:lumMod val="30000"/>
                  <a:lumOff val="7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D0BF83C5-8481-324F-ED05-3A304BB79E3E}"/>
              </a:ext>
            </a:extLst>
          </p:cNvPr>
          <p:cNvSpPr/>
          <p:nvPr/>
        </p:nvSpPr>
        <p:spPr>
          <a:xfrm>
            <a:off x="11983686" y="5034579"/>
            <a:ext cx="20020313" cy="6829240"/>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6D3CA1B6-B2A6-6CA2-36D7-1615E85AEF38}"/>
              </a:ext>
            </a:extLst>
          </p:cNvPr>
          <p:cNvSpPr/>
          <p:nvPr/>
        </p:nvSpPr>
        <p:spPr>
          <a:xfrm>
            <a:off x="11983685" y="12138139"/>
            <a:ext cx="20020313" cy="20490840"/>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63760BB5-810E-B05C-20DA-DFA1BFCE4B37}"/>
              </a:ext>
            </a:extLst>
          </p:cNvPr>
          <p:cNvSpPr/>
          <p:nvPr/>
        </p:nvSpPr>
        <p:spPr>
          <a:xfrm>
            <a:off x="420463" y="4999488"/>
            <a:ext cx="11008718" cy="27629491"/>
          </a:xfrm>
          <a:prstGeom prst="roundRect">
            <a:avLst/>
          </a:prstGeom>
          <a:solidFill>
            <a:schemeClr val="bg2">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7F3DAF44-F0DA-A84E-E2C0-CF2E1DE5B4CB}"/>
              </a:ext>
            </a:extLst>
          </p:cNvPr>
          <p:cNvSpPr/>
          <p:nvPr/>
        </p:nvSpPr>
        <p:spPr>
          <a:xfrm>
            <a:off x="32565012" y="5018402"/>
            <a:ext cx="10900827" cy="15231885"/>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B360DF9E-0336-14D5-3A39-51AD9CAE63AF}"/>
              </a:ext>
            </a:extLst>
          </p:cNvPr>
          <p:cNvSpPr/>
          <p:nvPr/>
        </p:nvSpPr>
        <p:spPr>
          <a:xfrm>
            <a:off x="32565012" y="26707801"/>
            <a:ext cx="11002827" cy="5921178"/>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6BD13170-47B6-ACC3-5466-3664A00942E9}"/>
              </a:ext>
            </a:extLst>
          </p:cNvPr>
          <p:cNvSpPr/>
          <p:nvPr/>
        </p:nvSpPr>
        <p:spPr>
          <a:xfrm>
            <a:off x="32565012" y="20524608"/>
            <a:ext cx="10900829" cy="5921178"/>
          </a:xfrm>
          <a:prstGeom prst="roundRect">
            <a:avLst/>
          </a:prstGeom>
          <a:solidFill>
            <a:schemeClr val="tx1">
              <a:alpha val="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51" name="Picture 1050">
            <a:extLst>
              <a:ext uri="{FF2B5EF4-FFF2-40B4-BE49-F238E27FC236}">
                <a16:creationId xmlns:a16="http://schemas.microsoft.com/office/drawing/2014/main" id="{561D5406-EA7C-E44F-CC38-4A602E2C1AC4}"/>
              </a:ext>
            </a:extLst>
          </p:cNvPr>
          <p:cNvPicPr>
            <a:picLocks noChangeAspect="1"/>
          </p:cNvPicPr>
          <p:nvPr/>
        </p:nvPicPr>
        <p:blipFill>
          <a:blip r:embed="rId3"/>
          <a:srcRect r="44469"/>
          <a:stretch/>
        </p:blipFill>
        <p:spPr>
          <a:xfrm>
            <a:off x="23566381" y="13746021"/>
            <a:ext cx="6543278" cy="14468953"/>
          </a:xfrm>
          <a:prstGeom prst="rect">
            <a:avLst/>
          </a:prstGeom>
        </p:spPr>
      </p:pic>
      <p:sp>
        <p:nvSpPr>
          <p:cNvPr id="1043" name="Rectangle: Rounded Corners 1042">
            <a:extLst>
              <a:ext uri="{FF2B5EF4-FFF2-40B4-BE49-F238E27FC236}">
                <a16:creationId xmlns:a16="http://schemas.microsoft.com/office/drawing/2014/main" id="{01E2E49A-EC6B-FFE4-ED04-5463F1D388B2}"/>
              </a:ext>
            </a:extLst>
          </p:cNvPr>
          <p:cNvSpPr/>
          <p:nvPr/>
        </p:nvSpPr>
        <p:spPr>
          <a:xfrm>
            <a:off x="34113800" y="5283316"/>
            <a:ext cx="7788944"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Rounded Corners 1041">
            <a:extLst>
              <a:ext uri="{FF2B5EF4-FFF2-40B4-BE49-F238E27FC236}">
                <a16:creationId xmlns:a16="http://schemas.microsoft.com/office/drawing/2014/main" id="{66A04D53-AB9C-9206-DA97-22E5918964D8}"/>
              </a:ext>
            </a:extLst>
          </p:cNvPr>
          <p:cNvSpPr/>
          <p:nvPr/>
        </p:nvSpPr>
        <p:spPr>
          <a:xfrm>
            <a:off x="34548345" y="26961699"/>
            <a:ext cx="7144153" cy="801100"/>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Rounded Corners 1040">
            <a:extLst>
              <a:ext uri="{FF2B5EF4-FFF2-40B4-BE49-F238E27FC236}">
                <a16:creationId xmlns:a16="http://schemas.microsoft.com/office/drawing/2014/main" id="{28779DA8-AED7-E07A-34DD-4F370AEC487C}"/>
              </a:ext>
            </a:extLst>
          </p:cNvPr>
          <p:cNvSpPr/>
          <p:nvPr/>
        </p:nvSpPr>
        <p:spPr>
          <a:xfrm>
            <a:off x="34783776" y="20783424"/>
            <a:ext cx="6431280"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Rounded Corners 1039">
            <a:extLst>
              <a:ext uri="{FF2B5EF4-FFF2-40B4-BE49-F238E27FC236}">
                <a16:creationId xmlns:a16="http://schemas.microsoft.com/office/drawing/2014/main" id="{01123B46-537A-BCD0-A0F8-CA74947735C6}"/>
              </a:ext>
            </a:extLst>
          </p:cNvPr>
          <p:cNvSpPr/>
          <p:nvPr/>
        </p:nvSpPr>
        <p:spPr>
          <a:xfrm>
            <a:off x="14412762" y="12394142"/>
            <a:ext cx="15169108"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4" name="Picture 1023">
            <a:extLst>
              <a:ext uri="{FF2B5EF4-FFF2-40B4-BE49-F238E27FC236}">
                <a16:creationId xmlns:a16="http://schemas.microsoft.com/office/drawing/2014/main" id="{8F0B0AFA-E946-1834-BFCE-11C84D62B798}"/>
              </a:ext>
            </a:extLst>
          </p:cNvPr>
          <p:cNvPicPr>
            <a:picLocks noChangeAspect="1"/>
          </p:cNvPicPr>
          <p:nvPr/>
        </p:nvPicPr>
        <p:blipFill>
          <a:blip r:embed="rId4"/>
          <a:srcRect r="68181"/>
          <a:stretch/>
        </p:blipFill>
        <p:spPr>
          <a:xfrm>
            <a:off x="810097" y="17415106"/>
            <a:ext cx="7499637" cy="7456574"/>
          </a:xfrm>
          <a:prstGeom prst="rect">
            <a:avLst/>
          </a:prstGeom>
        </p:spPr>
      </p:pic>
      <p:sp>
        <p:nvSpPr>
          <p:cNvPr id="50" name="Rectangle: Rounded Corners 49">
            <a:extLst>
              <a:ext uri="{FF2B5EF4-FFF2-40B4-BE49-F238E27FC236}">
                <a16:creationId xmlns:a16="http://schemas.microsoft.com/office/drawing/2014/main" id="{16638A22-C63F-AB1B-9780-03A2C1DC3756}"/>
              </a:ext>
            </a:extLst>
          </p:cNvPr>
          <p:cNvSpPr/>
          <p:nvPr/>
        </p:nvSpPr>
        <p:spPr>
          <a:xfrm>
            <a:off x="1647080" y="5269690"/>
            <a:ext cx="8573955" cy="804672"/>
          </a:xfrm>
          <a:prstGeom prst="roundRect">
            <a:avLst/>
          </a:prstGeom>
          <a:solidFill>
            <a:srgbClr val="BA0C2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BC9D3EB-3CF7-037A-6364-9AF6CAC5A4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8895" y="1270823"/>
            <a:ext cx="5029198" cy="12204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F3B7AE0-95FE-620A-7FB9-B4EC3D1CDBEF}"/>
              </a:ext>
            </a:extLst>
          </p:cNvPr>
          <p:cNvSpPr txBox="1"/>
          <p:nvPr/>
        </p:nvSpPr>
        <p:spPr>
          <a:xfrm>
            <a:off x="9089647" y="744251"/>
            <a:ext cx="25146000" cy="2308324"/>
          </a:xfrm>
          <a:prstGeom prst="rect">
            <a:avLst/>
          </a:prstGeom>
          <a:noFill/>
        </p:spPr>
        <p:txBody>
          <a:bodyPr wrap="square">
            <a:spAutoFit/>
          </a:bodyPr>
          <a:lstStyle/>
          <a:p>
            <a:pPr marL="0" marR="0" algn="ctr"/>
            <a:r>
              <a:rPr lang="en-US" sz="7200" dirty="0">
                <a:effectLst/>
                <a:latin typeface="Arial" panose="020B0604020202020204" pitchFamily="34" charset="0"/>
                <a:ea typeface="Cambria" panose="02040503050406030204" pitchFamily="18" charset="0"/>
                <a:cs typeface="Arial" panose="020B0604020202020204" pitchFamily="34" charset="0"/>
              </a:rPr>
              <a:t>Exploring Spatial Dynamics of Glycolytic Enzymes at the Mammalian Nerve Terminal</a:t>
            </a:r>
          </a:p>
        </p:txBody>
      </p:sp>
      <p:sp>
        <p:nvSpPr>
          <p:cNvPr id="10" name="TextBox 9">
            <a:extLst>
              <a:ext uri="{FF2B5EF4-FFF2-40B4-BE49-F238E27FC236}">
                <a16:creationId xmlns:a16="http://schemas.microsoft.com/office/drawing/2014/main" id="{089CBA6E-6A95-5036-3B25-9C46083BCC71}"/>
              </a:ext>
            </a:extLst>
          </p:cNvPr>
          <p:cNvSpPr txBox="1"/>
          <p:nvPr/>
        </p:nvSpPr>
        <p:spPr>
          <a:xfrm>
            <a:off x="628691" y="6615824"/>
            <a:ext cx="10531223" cy="9571851"/>
          </a:xfrm>
          <a:prstGeom prst="rect">
            <a:avLst/>
          </a:prstGeom>
          <a:noFill/>
        </p:spPr>
        <p:txBody>
          <a:bodyPr wrap="square">
            <a:spAutoFit/>
          </a:bodyPr>
          <a:lstStyle/>
          <a:p>
            <a:pPr marL="228600" marR="0"/>
            <a:r>
              <a:rPr lang="en-US" sz="28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Neuronal transmission within the brain is incredibly metabolically demanding, yet access to glucose (the brains main energy source) fluctuates significantly. Cognitive function is dependent on efficient metabolism and energy production. As neuronal transmission </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represents</a:t>
            </a:r>
            <a:r>
              <a:rPr lang="en-US" sz="28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the brain’s main metabolic demand, neuron firing creates a </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substantial,</a:t>
            </a:r>
            <a:r>
              <a:rPr lang="en-US" sz="2800" dirty="0">
                <a:solidFill>
                  <a:srgbClr val="000000"/>
                </a:solidFill>
                <a:effectLst/>
                <a:latin typeface="Times New Roman" panose="02020603050405020304" pitchFamily="18" charset="0"/>
                <a:ea typeface="Cambria" panose="02040503050406030204" pitchFamily="18" charset="0"/>
                <a:cs typeface="Times New Roman" panose="02020603050405020304" pitchFamily="18" charset="0"/>
              </a:rPr>
              <a:t> transient energy requirement. The two main energy production pathways in the neuron are oxidative phosphorylation and glycolysis. While glycolysis remains understudied, it may play a critical role in rapid energy production due to its capacity to generate ATP more quickly than oxidative phosphorylation.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Previous work has found localization of glycolytic enzymes into metabolons during periods of neuronal stress in </a:t>
            </a:r>
            <a:r>
              <a:rPr lang="en-US" sz="2800" i="1" dirty="0">
                <a:effectLst/>
                <a:latin typeface="Times New Roman" panose="02020603050405020304" pitchFamily="18" charset="0"/>
                <a:ea typeface="Cambria" panose="02040503050406030204" pitchFamily="18" charset="0"/>
                <a:cs typeface="Times New Roman" panose="02020603050405020304" pitchFamily="18" charset="0"/>
              </a:rPr>
              <a:t>C. elegans,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suggesting dynamic</a:t>
            </a:r>
            <a:r>
              <a:rPr lang="en-US" sz="2800" dirty="0">
                <a:latin typeface="Times New Roman" panose="02020603050405020304" pitchFamily="18" charset="0"/>
                <a:ea typeface="Cambria" panose="02040503050406030204" pitchFamily="18" charset="0"/>
                <a:cs typeface="Times New Roman" panose="02020603050405020304" pitchFamily="18" charset="0"/>
              </a:rPr>
              <a:t>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activity. Our lab</a:t>
            </a:r>
            <a:r>
              <a:rPr lang="en-US" sz="2800" dirty="0">
                <a:latin typeface="Times New Roman" panose="02020603050405020304" pitchFamily="18" charset="0"/>
                <a:ea typeface="Cambria" panose="02040503050406030204" pitchFamily="18" charset="0"/>
                <a:cs typeface="Times New Roman" panose="02020603050405020304" pitchFamily="18" charset="0"/>
              </a:rPr>
              <a:t> aims to elucidate the spatial dynamics of glycolytic enzymes at the mammalian neuronal synapse. The investigation seeks to clarify the role of glycolytic ATP production in supporting synaptic transmission.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Energy dysregulation is increasingly recognized as an early sign of neurodegeneration</a:t>
            </a:r>
            <a:r>
              <a:rPr lang="en-US" sz="2800" kern="1800" dirty="0">
                <a:effectLst/>
                <a:latin typeface="Times New Roman" panose="02020603050405020304" pitchFamily="18" charset="0"/>
                <a:ea typeface="Cambria" panose="02040503050406030204" pitchFamily="18" charset="0"/>
                <a:cs typeface="Times New Roman" panose="02020603050405020304" pitchFamily="18" charset="0"/>
              </a:rPr>
              <a:t>, and</a:t>
            </a:r>
            <a:r>
              <a:rPr lang="en-US" sz="2800" kern="1800" dirty="0">
                <a:solidFill>
                  <a:srgbClr val="1B2B68"/>
                </a:solidFill>
                <a:effectLst/>
                <a:latin typeface="Times New Roman" panose="02020603050405020304" pitchFamily="18" charset="0"/>
                <a:ea typeface="Cambria" panose="02040503050406030204" pitchFamily="18" charset="0"/>
                <a:cs typeface="Times New Roman" panose="02020603050405020304" pitchFamily="18" charset="0"/>
              </a:rPr>
              <a:t>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studying this dysregulation in mammals can provide a </a:t>
            </a:r>
            <a:r>
              <a:rPr lang="en-US" sz="2800">
                <a:effectLst/>
                <a:latin typeface="Times New Roman" panose="02020603050405020304" pitchFamily="18" charset="0"/>
                <a:ea typeface="Cambria" panose="02040503050406030204" pitchFamily="18" charset="0"/>
                <a:cs typeface="Times New Roman" panose="02020603050405020304" pitchFamily="18" charset="0"/>
              </a:rPr>
              <a:t>deeper insight </a:t>
            </a:r>
            <a:r>
              <a:rPr lang="en-US" sz="2800" dirty="0">
                <a:effectLst/>
                <a:latin typeface="Times New Roman" panose="02020603050405020304" pitchFamily="18" charset="0"/>
                <a:ea typeface="Cambria" panose="02040503050406030204" pitchFamily="18" charset="0"/>
                <a:cs typeface="Times New Roman" panose="02020603050405020304" pitchFamily="18" charset="0"/>
              </a:rPr>
              <a:t>relevant to human health. </a:t>
            </a:r>
            <a:r>
              <a:rPr lang="en-US" sz="2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We hypothesize that glycolysis is essential for the energetic support of synaptic activity, particularly at terminals lacking mitochondria. Additionally, we propose that glycolytic enzymes form transient clusters to enhance energy production efficiency.</a:t>
            </a:r>
            <a:endParaRPr lang="en-US" sz="2800" dirty="0">
              <a:effectLst/>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A98909B-32D8-4CDC-12F6-45AD6D6924C0}"/>
              </a:ext>
            </a:extLst>
          </p:cNvPr>
          <p:cNvSpPr txBox="1"/>
          <p:nvPr/>
        </p:nvSpPr>
        <p:spPr>
          <a:xfrm>
            <a:off x="4614142" y="5327628"/>
            <a:ext cx="2560320" cy="646331"/>
          </a:xfrm>
          <a:prstGeom prst="rect">
            <a:avLst/>
          </a:prstGeom>
          <a:noFill/>
        </p:spPr>
        <p:txBody>
          <a:bodyPr wrap="square" rtlCol="0">
            <a:spAutoFit/>
          </a:bodyPr>
          <a:lstStyle/>
          <a:p>
            <a:r>
              <a:rPr lang="en-US" sz="3600" dirty="0">
                <a:solidFill>
                  <a:schemeClr val="bg1"/>
                </a:solidFill>
                <a:latin typeface="Times New Roman" panose="02020603050405020304" pitchFamily="18" charset="0"/>
                <a:cs typeface="Times New Roman" panose="02020603050405020304" pitchFamily="18" charset="0"/>
              </a:rPr>
              <a:t>Introduction</a:t>
            </a:r>
          </a:p>
        </p:txBody>
      </p:sp>
      <p:sp>
        <p:nvSpPr>
          <p:cNvPr id="12" name="TextBox 11">
            <a:extLst>
              <a:ext uri="{FF2B5EF4-FFF2-40B4-BE49-F238E27FC236}">
                <a16:creationId xmlns:a16="http://schemas.microsoft.com/office/drawing/2014/main" id="{6A8BB1C7-501A-E270-DF53-2CF4DA410A2D}"/>
              </a:ext>
            </a:extLst>
          </p:cNvPr>
          <p:cNvSpPr txBox="1"/>
          <p:nvPr/>
        </p:nvSpPr>
        <p:spPr>
          <a:xfrm>
            <a:off x="13955593" y="3014648"/>
            <a:ext cx="16887388" cy="769441"/>
          </a:xfrm>
          <a:prstGeom prst="rect">
            <a:avLst/>
          </a:prstGeom>
          <a:noFill/>
        </p:spPr>
        <p:txBody>
          <a:bodyPr wrap="square" rtlCol="0">
            <a:spAutoFit/>
          </a:bodyPr>
          <a:lstStyle/>
          <a:p>
            <a:r>
              <a:rPr lang="en-US" sz="4400" u="sng" dirty="0">
                <a:latin typeface="Arial" panose="020B0604020202020204" pitchFamily="34" charset="0"/>
                <a:cs typeface="Arial" panose="020B0604020202020204" pitchFamily="34" charset="0"/>
              </a:rPr>
              <a:t>Davin Harvey</a:t>
            </a:r>
            <a:r>
              <a:rPr lang="en-US" sz="4400" dirty="0">
                <a:latin typeface="Arial" panose="020B0604020202020204" pitchFamily="34" charset="0"/>
                <a:cs typeface="Arial" panose="020B0604020202020204" pitchFamily="34" charset="0"/>
              </a:rPr>
              <a:t>, Kelly Wichmann, Alexandra Ware, Ghazaleh Ashrafi </a:t>
            </a:r>
          </a:p>
        </p:txBody>
      </p:sp>
      <p:sp>
        <p:nvSpPr>
          <p:cNvPr id="19" name="TextBox 18">
            <a:extLst>
              <a:ext uri="{FF2B5EF4-FFF2-40B4-BE49-F238E27FC236}">
                <a16:creationId xmlns:a16="http://schemas.microsoft.com/office/drawing/2014/main" id="{E5F2F761-4EB6-594C-0B6C-46EEDF97EE3D}"/>
              </a:ext>
            </a:extLst>
          </p:cNvPr>
          <p:cNvSpPr txBox="1"/>
          <p:nvPr/>
        </p:nvSpPr>
        <p:spPr>
          <a:xfrm>
            <a:off x="20038985" y="12472776"/>
            <a:ext cx="3677200" cy="646331"/>
          </a:xfrm>
          <a:prstGeom prst="rect">
            <a:avLst/>
          </a:prstGeom>
          <a:noFill/>
        </p:spPr>
        <p:txBody>
          <a:bodyPr wrap="square">
            <a:spAutoFit/>
          </a:bodyPr>
          <a:lstStyle/>
          <a:p>
            <a:r>
              <a:rPr lang="en-US" sz="3600" dirty="0">
                <a:solidFill>
                  <a:schemeClr val="bg1"/>
                </a:solidFill>
                <a:latin typeface="Times New Roman" panose="02020603050405020304" pitchFamily="18" charset="0"/>
                <a:cs typeface="Times New Roman" panose="02020603050405020304" pitchFamily="18" charset="0"/>
              </a:rPr>
              <a:t>Research Methods</a:t>
            </a:r>
            <a:endParaRPr lang="en-US" dirty="0">
              <a:solidFill>
                <a:schemeClr val="bg1"/>
              </a:solidFill>
            </a:endParaRPr>
          </a:p>
        </p:txBody>
      </p:sp>
      <p:sp>
        <p:nvSpPr>
          <p:cNvPr id="21" name="TextBox 20">
            <a:extLst>
              <a:ext uri="{FF2B5EF4-FFF2-40B4-BE49-F238E27FC236}">
                <a16:creationId xmlns:a16="http://schemas.microsoft.com/office/drawing/2014/main" id="{558ACDC9-9B16-0367-CEA3-7ED0DAEB15DA}"/>
              </a:ext>
            </a:extLst>
          </p:cNvPr>
          <p:cNvSpPr txBox="1"/>
          <p:nvPr/>
        </p:nvSpPr>
        <p:spPr>
          <a:xfrm>
            <a:off x="36099794" y="5321521"/>
            <a:ext cx="3829008"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latin typeface="Times New Roman" panose="02020603050405020304" pitchFamily="18" charset="0"/>
                <a:cs typeface="Times New Roman" panose="02020603050405020304" pitchFamily="18" charset="0"/>
              </a:rPr>
              <a:t>Preliminary </a:t>
            </a: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Results</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23" name="TextBox 22">
            <a:extLst>
              <a:ext uri="{FF2B5EF4-FFF2-40B4-BE49-F238E27FC236}">
                <a16:creationId xmlns:a16="http://schemas.microsoft.com/office/drawing/2014/main" id="{17352930-FD00-963D-4BF6-672D86319D5E}"/>
              </a:ext>
            </a:extLst>
          </p:cNvPr>
          <p:cNvSpPr txBox="1"/>
          <p:nvPr/>
        </p:nvSpPr>
        <p:spPr>
          <a:xfrm>
            <a:off x="34970778" y="20846441"/>
            <a:ext cx="6293294"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Conclusions &amp; Future Direction</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DB712A2D-06C3-320C-7B05-649D8839FC94}"/>
              </a:ext>
            </a:extLst>
          </p:cNvPr>
          <p:cNvSpPr txBox="1"/>
          <p:nvPr/>
        </p:nvSpPr>
        <p:spPr>
          <a:xfrm>
            <a:off x="13154634" y="13702493"/>
            <a:ext cx="7795260" cy="5693866"/>
          </a:xfrm>
          <a:prstGeom prst="rect">
            <a:avLst/>
          </a:prstGeom>
          <a:noFill/>
        </p:spPr>
        <p:txBody>
          <a:bodyPr wrap="square">
            <a:spAutoFit/>
          </a:bodyPr>
          <a:lstStyle/>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ORANGE (Open Resource for the Application of Neuronal Genome Editing) method tags key glycolytic enzymes with fluorescent protein </a:t>
            </a:r>
            <a:r>
              <a:rPr lang="en-US" sz="2800"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smFP</a:t>
            </a:r>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Transfect prenatal rat pup cortical neurons with edited plasmids</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CRISPR/CAS9 edits genome to add fluorescent tags to glycolytic genes in neurons</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To increase fluorescence, stain transfected neurons with anti-</a:t>
            </a:r>
            <a:r>
              <a:rPr lang="en-US" sz="2800"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myc</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an antibody that binds to the </a:t>
            </a:r>
            <a:r>
              <a:rPr lang="en-US" sz="2800"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smFP</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protein </a:t>
            </a:r>
          </a:p>
          <a:p>
            <a:pPr marL="457200" indent="-457200">
              <a:buFont typeface="Arial" panose="020B0604020202020204" pitchFamily="34" charset="0"/>
              <a:buChar cha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Tagged glycolytic enzyme levels are quantified through fluorescence intensity at synapses with high-resolution microscopy</a:t>
            </a:r>
          </a:p>
        </p:txBody>
      </p:sp>
      <p:sp>
        <p:nvSpPr>
          <p:cNvPr id="6" name="TextBox 5">
            <a:extLst>
              <a:ext uri="{FF2B5EF4-FFF2-40B4-BE49-F238E27FC236}">
                <a16:creationId xmlns:a16="http://schemas.microsoft.com/office/drawing/2014/main" id="{679362DD-C774-0241-34C4-2E0428683F15}"/>
              </a:ext>
            </a:extLst>
          </p:cNvPr>
          <p:cNvSpPr txBox="1"/>
          <p:nvPr/>
        </p:nvSpPr>
        <p:spPr>
          <a:xfrm>
            <a:off x="32850663" y="21832980"/>
            <a:ext cx="10615176" cy="3970318"/>
          </a:xfrm>
          <a:prstGeom prst="rect">
            <a:avLst/>
          </a:prstGeom>
          <a:noFill/>
        </p:spPr>
        <p:txBody>
          <a:bodyPr wrap="square">
            <a:spAutoFit/>
          </a:bodyPr>
          <a:lstStyle/>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Stain mitochondria with </a:t>
            </a:r>
            <a:r>
              <a:rPr lang="en-US" sz="2800"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MitoTraker</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and presynaptic marker VGLUT1 in cortical neurons to visualize using high-resolution STED microscopy</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Transfect cortical neurons with key glycolytic enzyme hexokinase to understand more clearly localization of glycolytic enzymes</a:t>
            </a:r>
            <a:endParaRPr kumimoji="0" 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Prove successful transfection by transfecting cortical neurons and adding primers to isolate genomic DNA for sequencing </a:t>
            </a:r>
          </a:p>
          <a:p>
            <a:pPr marL="457200" marR="0" lvl="0" indent="-45720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Electrically stimulate nerves with tagged enzymes and observe localization behavior of glycolytic enzymes</a:t>
            </a:r>
          </a:p>
        </p:txBody>
      </p:sp>
      <p:sp>
        <p:nvSpPr>
          <p:cNvPr id="16" name="TextBox 15">
            <a:extLst>
              <a:ext uri="{FF2B5EF4-FFF2-40B4-BE49-F238E27FC236}">
                <a16:creationId xmlns:a16="http://schemas.microsoft.com/office/drawing/2014/main" id="{E4A776A3-7C58-D670-21A5-DA44ACAA06C6}"/>
              </a:ext>
            </a:extLst>
          </p:cNvPr>
          <p:cNvSpPr txBox="1"/>
          <p:nvPr/>
        </p:nvSpPr>
        <p:spPr>
          <a:xfrm>
            <a:off x="33194422" y="28188504"/>
            <a:ext cx="9500763" cy="3816429"/>
          </a:xfrm>
          <a:prstGeom prst="rect">
            <a:avLst/>
          </a:prstGeom>
          <a:noFill/>
        </p:spPr>
        <p:txBody>
          <a:bodyPr wrap="square">
            <a:spAutoFit/>
          </a:bodyPr>
          <a:lstStyle/>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I would personally like to thank my mentor Kelly Wichmann, Dr. Ghazaleh Ashrafi, and the rest of the Ashrafi lab for helping me explore the field of research. </a:t>
            </a:r>
          </a:p>
          <a:p>
            <a:pPr marR="0" lvl="0" algn="l" defTabSz="457200" rtl="0" eaLnBrk="1" fontAlgn="auto" latinLnBrk="0" hangingPunct="1">
              <a:lnSpc>
                <a:spcPct val="100000"/>
              </a:lnSpc>
              <a:spcBef>
                <a:spcPts val="0"/>
              </a:spcBef>
              <a:spcAft>
                <a:spcPts val="0"/>
              </a:spcAft>
              <a:buClrTx/>
              <a:buSzTx/>
              <a:tabLst/>
              <a:defRPr/>
            </a:pPr>
            <a:endPar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endParaRPr>
          </a:p>
          <a:p>
            <a:pPr marR="0" lvl="0" algn="l" defTabSz="457200" rtl="0" eaLnBrk="1" fontAlgn="auto" latinLnBrk="0" hangingPunct="1">
              <a:lnSpc>
                <a:spcPct val="100000"/>
              </a:lnSpc>
              <a:spcBef>
                <a:spcPts val="0"/>
              </a:spcBef>
              <a:spcAft>
                <a:spcPts val="0"/>
              </a:spcAft>
              <a:buClrTx/>
              <a:buSzTx/>
              <a:tabLst/>
              <a:defRPr/>
            </a:pPr>
            <a:r>
              <a:rPr lang="en-US" sz="2800" b="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References: </a:t>
            </a:r>
          </a:p>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Figure 2, </a:t>
            </a:r>
            <a:r>
              <a:rPr lang="en-US" sz="2800" i="1" dirty="0" err="1">
                <a:solidFill>
                  <a:srgbClr val="000000"/>
                </a:solidFill>
                <a:latin typeface="Times New Roman" panose="02020603050405020304" pitchFamily="18" charset="0"/>
                <a:ea typeface="Cambria" panose="02040503050406030204" pitchFamily="18" charset="0"/>
                <a:cs typeface="Times New Roman" panose="02020603050405020304" pitchFamily="18" charset="0"/>
              </a:rPr>
              <a:t>Hallermann</a:t>
            </a:r>
            <a:r>
              <a:rPr lang="en-US" sz="2800" i="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et al., 2012</a:t>
            </a:r>
          </a:p>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Figure 3, </a:t>
            </a:r>
            <a:r>
              <a:rPr lang="en-US" sz="2800" i="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Willems et al, 2020 PLOS Biology</a:t>
            </a:r>
          </a:p>
          <a:p>
            <a:pPr marR="0" lvl="0" algn="l" defTabSz="457200" rtl="0" eaLnBrk="1" fontAlgn="auto" latinLnBrk="0" hangingPunct="1">
              <a:lnSpc>
                <a:spcPct val="100000"/>
              </a:lnSpc>
              <a:spcBef>
                <a:spcPts val="0"/>
              </a:spcBef>
              <a:spcAft>
                <a:spcPts val="0"/>
              </a:spcAft>
              <a:buClrTx/>
              <a:buSzTx/>
              <a:tabLst/>
              <a:defRPr/>
            </a:pP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Figure 4, </a:t>
            </a:r>
            <a:r>
              <a:rPr lang="en-US" sz="2800" i="1"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Viswanathan et al. 2015</a:t>
            </a:r>
            <a:r>
              <a:rPr lang="en-US" sz="2800" dirty="0">
                <a:solidFill>
                  <a:srgbClr val="000000"/>
                </a:solidFill>
                <a:latin typeface="Times New Roman" panose="02020603050405020304" pitchFamily="18" charset="0"/>
                <a:ea typeface="Cambria" panose="02040503050406030204" pitchFamily="18" charset="0"/>
                <a:cs typeface="Times New Roman" panose="02020603050405020304" pitchFamily="18" charset="0"/>
              </a:rPr>
              <a:t>  </a:t>
            </a:r>
          </a:p>
          <a:p>
            <a:pPr marR="0" lvl="0" algn="l" defTabSz="457200" rtl="0" eaLnBrk="1" fontAlgn="auto" latinLnBrk="0" hangingPunct="1">
              <a:lnSpc>
                <a:spcPct val="100000"/>
              </a:lnSpc>
              <a:spcBef>
                <a:spcPts val="0"/>
              </a:spcBef>
              <a:spcAft>
                <a:spcPts val="0"/>
              </a:spcAft>
              <a:buClrTx/>
              <a:buSzTx/>
              <a:tabLst/>
              <a:defRPr/>
            </a:pPr>
            <a:endParaRPr lang="en-US" b="1" dirty="0"/>
          </a:p>
        </p:txBody>
      </p:sp>
      <p:pic>
        <p:nvPicPr>
          <p:cNvPr id="48" name="Picture 47" descr="A collage of images of neurons&#10;&#10;AI-generated content may be incorrect.">
            <a:extLst>
              <a:ext uri="{FF2B5EF4-FFF2-40B4-BE49-F238E27FC236}">
                <a16:creationId xmlns:a16="http://schemas.microsoft.com/office/drawing/2014/main" id="{E1A6DF32-8719-6387-C082-A301BCFC56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674767" y="6341886"/>
            <a:ext cx="8993494" cy="11246622"/>
          </a:xfrm>
          <a:prstGeom prst="rect">
            <a:avLst/>
          </a:prstGeom>
        </p:spPr>
      </p:pic>
      <p:sp>
        <p:nvSpPr>
          <p:cNvPr id="52" name="TextBox 51">
            <a:extLst>
              <a:ext uri="{FF2B5EF4-FFF2-40B4-BE49-F238E27FC236}">
                <a16:creationId xmlns:a16="http://schemas.microsoft.com/office/drawing/2014/main" id="{031082BA-A168-B490-8764-E171D665A84F}"/>
              </a:ext>
            </a:extLst>
          </p:cNvPr>
          <p:cNvSpPr txBox="1"/>
          <p:nvPr/>
        </p:nvSpPr>
        <p:spPr>
          <a:xfrm>
            <a:off x="8864704" y="17426115"/>
            <a:ext cx="2216711" cy="11172289"/>
          </a:xfrm>
          <a:prstGeom prst="rect">
            <a:avLst/>
          </a:prstGeom>
          <a:noFill/>
        </p:spPr>
        <p:txBody>
          <a:bodyPr wrap="square">
            <a:spAutoFit/>
          </a:bodyPr>
          <a:lstStyle/>
          <a:p>
            <a:pPr marL="0" marR="0" lvl="0" indent="0" algn="l" defTabSz="4572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1. </a:t>
            </a:r>
            <a:r>
              <a:rPr lang="en-US" dirty="0">
                <a:solidFill>
                  <a:prstClr val="black"/>
                </a:solidFill>
                <a:latin typeface="Times New Roman" panose="02020603050405020304" pitchFamily="18" charset="0"/>
                <a:cs typeface="Times New Roman" panose="02020603050405020304" pitchFamily="18" charset="0"/>
              </a:rPr>
              <a:t>Aims 1 and 2 are highlighted. </a:t>
            </a:r>
            <a:r>
              <a:rPr lang="en-US" b="1" dirty="0">
                <a:solidFill>
                  <a:prstClr val="black"/>
                </a:solidFill>
                <a:latin typeface="Times New Roman" panose="02020603050405020304" pitchFamily="18" charset="0"/>
                <a:cs typeface="Times New Roman" panose="02020603050405020304" pitchFamily="18" charset="0"/>
              </a:rPr>
              <a:t>Aim 1: </a:t>
            </a:r>
            <a:r>
              <a:rPr lang="en-US" dirty="0">
                <a:solidFill>
                  <a:prstClr val="black"/>
                </a:solidFill>
                <a:latin typeface="Times New Roman" panose="02020603050405020304" pitchFamily="18" charset="0"/>
                <a:cs typeface="Times New Roman" panose="02020603050405020304" pitchFamily="18" charset="0"/>
              </a:rPr>
              <a:t>Examine the heterogeneity of glycolytic machinery across nerve terminals of a single neuron. In Aim 1 (left), we hypothesize there will be more glycolytic enzymes in synapse lacking mitochondria. Glycolytic enzymes and glucose transporters are labeled in this diagram. We expect to see more of this machinery at the bottom synapse without mitochondria. </a:t>
            </a:r>
            <a:r>
              <a:rPr lang="en-US" b="1" dirty="0">
                <a:solidFill>
                  <a:prstClr val="black"/>
                </a:solidFill>
                <a:latin typeface="Times New Roman" panose="02020603050405020304" pitchFamily="18" charset="0"/>
                <a:cs typeface="Times New Roman" panose="02020603050405020304" pitchFamily="18" charset="0"/>
              </a:rPr>
              <a:t>Aim 2: </a:t>
            </a:r>
            <a:r>
              <a:rPr lang="en-US" dirty="0">
                <a:solidFill>
                  <a:prstClr val="black"/>
                </a:solidFill>
                <a:latin typeface="Times New Roman" panose="02020603050405020304" pitchFamily="18" charset="0"/>
                <a:cs typeface="Times New Roman" panose="02020603050405020304" pitchFamily="18" charset="0"/>
              </a:rPr>
              <a:t>Establish spatiotemporal dynamics of glycolytic enzymes during neuronal activity. In Aim 2 (right), we hypothesize that glycolytic enzymes will form transient clusters to enhance energy production efficiency during stimulation. The glycolytic enzymes can be seen forming a glycolytic metabolon in the diagram.</a:t>
            </a:r>
            <a:endPar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4" name="TextBox 53">
            <a:extLst>
              <a:ext uri="{FF2B5EF4-FFF2-40B4-BE49-F238E27FC236}">
                <a16:creationId xmlns:a16="http://schemas.microsoft.com/office/drawing/2014/main" id="{438DB4D8-8DC5-825F-1AD5-58DBC9E570CF}"/>
              </a:ext>
            </a:extLst>
          </p:cNvPr>
          <p:cNvSpPr txBox="1"/>
          <p:nvPr/>
        </p:nvSpPr>
        <p:spPr>
          <a:xfrm>
            <a:off x="16030627" y="3745792"/>
            <a:ext cx="11262353"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WashU Medicine Department of Cell Biology and Physiology</a:t>
            </a:r>
          </a:p>
        </p:txBody>
      </p:sp>
      <p:pic>
        <p:nvPicPr>
          <p:cNvPr id="56" name="Picture 55" descr="A logo with text and images&#10;&#10;AI-generated content may be incorrect.">
            <a:extLst>
              <a:ext uri="{FF2B5EF4-FFF2-40B4-BE49-F238E27FC236}">
                <a16:creationId xmlns:a16="http://schemas.microsoft.com/office/drawing/2014/main" id="{B9A8D15D-635A-C5C0-C0B9-5300EE60FB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508001" y="424112"/>
            <a:ext cx="7187184" cy="2913888"/>
          </a:xfrm>
          <a:prstGeom prst="rect">
            <a:avLst/>
          </a:prstGeom>
        </p:spPr>
      </p:pic>
      <p:sp>
        <p:nvSpPr>
          <p:cNvPr id="58" name="TextBox 57">
            <a:extLst>
              <a:ext uri="{FF2B5EF4-FFF2-40B4-BE49-F238E27FC236}">
                <a16:creationId xmlns:a16="http://schemas.microsoft.com/office/drawing/2014/main" id="{ACFB3BC1-9AF5-0EFF-F5B3-A24F03D27549}"/>
              </a:ext>
            </a:extLst>
          </p:cNvPr>
          <p:cNvSpPr txBox="1"/>
          <p:nvPr/>
        </p:nvSpPr>
        <p:spPr>
          <a:xfrm>
            <a:off x="33447509" y="17632396"/>
            <a:ext cx="9448010" cy="23083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7. </a:t>
            </a:r>
            <a:r>
              <a:rPr lang="en-US" dirty="0">
                <a:solidFill>
                  <a:prstClr val="black"/>
                </a:solidFill>
                <a:latin typeface="Times New Roman" panose="02020603050405020304" pitchFamily="18" charset="0"/>
                <a:cs typeface="Times New Roman" panose="02020603050405020304" pitchFamily="18" charset="0"/>
              </a:rPr>
              <a:t>Sample images of successfully transfected prenatal rat pup neurons with tagged glycolytic enzymes. GFP fluorescence represents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 expression in the absence of </a:t>
            </a:r>
            <a:r>
              <a:rPr lang="en-US" dirty="0" err="1">
                <a:solidFill>
                  <a:prstClr val="black"/>
                </a:solidFill>
                <a:latin typeface="Times New Roman" panose="02020603050405020304" pitchFamily="18" charset="0"/>
                <a:cs typeface="Times New Roman" panose="02020603050405020304" pitchFamily="18" charset="0"/>
              </a:rPr>
              <a:t>myc</a:t>
            </a:r>
            <a:r>
              <a:rPr lang="en-US" dirty="0">
                <a:solidFill>
                  <a:prstClr val="black"/>
                </a:solidFill>
                <a:latin typeface="Times New Roman" panose="02020603050405020304" pitchFamily="18" charset="0"/>
                <a:cs typeface="Times New Roman" panose="02020603050405020304" pitchFamily="18" charset="0"/>
              </a:rPr>
              <a:t> antibodies. </a:t>
            </a:r>
            <a:r>
              <a:rPr lang="en-US" dirty="0" err="1">
                <a:solidFill>
                  <a:prstClr val="black"/>
                </a:solidFill>
                <a:latin typeface="Times New Roman" panose="02020603050405020304" pitchFamily="18" charset="0"/>
                <a:cs typeface="Times New Roman" panose="02020603050405020304" pitchFamily="18" charset="0"/>
              </a:rPr>
              <a:t>Myc</a:t>
            </a:r>
            <a:r>
              <a:rPr lang="en-US" dirty="0">
                <a:solidFill>
                  <a:prstClr val="black"/>
                </a:solidFill>
                <a:latin typeface="Times New Roman" panose="02020603050405020304" pitchFamily="18" charset="0"/>
                <a:cs typeface="Times New Roman" panose="02020603050405020304" pitchFamily="18" charset="0"/>
              </a:rPr>
              <a:t> antibodies are introduced and attach to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 to enhance fluorescence, which is imaged. Upon introduction of </a:t>
            </a:r>
            <a:r>
              <a:rPr lang="en-US" dirty="0" err="1">
                <a:solidFill>
                  <a:prstClr val="black"/>
                </a:solidFill>
                <a:latin typeface="Times New Roman" panose="02020603050405020304" pitchFamily="18" charset="0"/>
                <a:cs typeface="Times New Roman" panose="02020603050405020304" pitchFamily="18" charset="0"/>
              </a:rPr>
              <a:t>myc</a:t>
            </a:r>
            <a:r>
              <a:rPr lang="en-US" dirty="0">
                <a:solidFill>
                  <a:prstClr val="black"/>
                </a:solidFill>
                <a:latin typeface="Times New Roman" panose="02020603050405020304" pitchFamily="18" charset="0"/>
                <a:cs typeface="Times New Roman" panose="02020603050405020304" pitchFamily="18" charset="0"/>
              </a:rPr>
              <a:t> antibodies, which bind to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 fluorescence is enhanced and subsequently imaged. Merged images confirm colocalization, with </a:t>
            </a:r>
            <a:r>
              <a:rPr lang="en-US" dirty="0" err="1">
                <a:solidFill>
                  <a:prstClr val="black"/>
                </a:solidFill>
                <a:latin typeface="Times New Roman" panose="02020603050405020304" pitchFamily="18" charset="0"/>
                <a:cs typeface="Times New Roman" panose="02020603050405020304" pitchFamily="18" charset="0"/>
              </a:rPr>
              <a:t>myc</a:t>
            </a:r>
            <a:r>
              <a:rPr lang="en-US" dirty="0">
                <a:solidFill>
                  <a:prstClr val="black"/>
                </a:solidFill>
                <a:latin typeface="Times New Roman" panose="02020603050405020304" pitchFamily="18" charset="0"/>
                <a:cs typeface="Times New Roman" panose="02020603050405020304" pitchFamily="18" charset="0"/>
              </a:rPr>
              <a:t> fluorescence appearing more intense than GFP. DAPI staining indicates nuclei in the merged images. The top row displays </a:t>
            </a:r>
            <a:r>
              <a:rPr lang="en-US" dirty="0" err="1">
                <a:solidFill>
                  <a:prstClr val="black"/>
                </a:solidFill>
                <a:latin typeface="Times New Roman" panose="02020603050405020304" pitchFamily="18" charset="0"/>
                <a:cs typeface="Times New Roman" panose="02020603050405020304" pitchFamily="18" charset="0"/>
              </a:rPr>
              <a:t>smFP-myc</a:t>
            </a:r>
            <a:r>
              <a:rPr lang="en-US" dirty="0">
                <a:solidFill>
                  <a:prstClr val="black"/>
                </a:solidFill>
                <a:latin typeface="Times New Roman" panose="02020603050405020304" pitchFamily="18" charset="0"/>
                <a:cs typeface="Times New Roman" panose="02020603050405020304" pitchFamily="18" charset="0"/>
              </a:rPr>
              <a:t> overexpression as a control, while the subsequent rows show endogenous tagging of glycolytic enzymes PGK (second row), </a:t>
            </a:r>
            <a:r>
              <a:rPr lang="en-US" dirty="0" err="1">
                <a:solidFill>
                  <a:prstClr val="black"/>
                </a:solidFill>
                <a:latin typeface="Times New Roman" panose="02020603050405020304" pitchFamily="18" charset="0"/>
                <a:cs typeface="Times New Roman" panose="02020603050405020304" pitchFamily="18" charset="0"/>
              </a:rPr>
              <a:t>AldoA</a:t>
            </a:r>
            <a:r>
              <a:rPr lang="en-US" dirty="0">
                <a:solidFill>
                  <a:prstClr val="black"/>
                </a:solidFill>
                <a:latin typeface="Times New Roman" panose="02020603050405020304" pitchFamily="18" charset="0"/>
                <a:cs typeface="Times New Roman" panose="02020603050405020304" pitchFamily="18" charset="0"/>
              </a:rPr>
              <a:t> (third row), and PKM (bottom row) under resting conditions.</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5" name="Picture 1024">
            <a:extLst>
              <a:ext uri="{FF2B5EF4-FFF2-40B4-BE49-F238E27FC236}">
                <a16:creationId xmlns:a16="http://schemas.microsoft.com/office/drawing/2014/main" id="{65C40851-D5D5-858E-583C-B1D87D48F00D}"/>
              </a:ext>
            </a:extLst>
          </p:cNvPr>
          <p:cNvPicPr>
            <a:picLocks noChangeAspect="1"/>
          </p:cNvPicPr>
          <p:nvPr/>
        </p:nvPicPr>
        <p:blipFill>
          <a:blip r:embed="rId4"/>
          <a:srcRect l="34480" t="3315" r="33252" b="3128"/>
          <a:stretch/>
        </p:blipFill>
        <p:spPr>
          <a:xfrm>
            <a:off x="576441" y="25341357"/>
            <a:ext cx="8129512" cy="6306219"/>
          </a:xfrm>
          <a:prstGeom prst="rect">
            <a:avLst/>
          </a:prstGeom>
        </p:spPr>
      </p:pic>
      <p:pic>
        <p:nvPicPr>
          <p:cNvPr id="1027" name="Picture 1026">
            <a:extLst>
              <a:ext uri="{FF2B5EF4-FFF2-40B4-BE49-F238E27FC236}">
                <a16:creationId xmlns:a16="http://schemas.microsoft.com/office/drawing/2014/main" id="{8993ED4A-6B37-D1E2-DE62-CDA0392A1B35}"/>
              </a:ext>
            </a:extLst>
          </p:cNvPr>
          <p:cNvPicPr>
            <a:picLocks noChangeAspect="1"/>
          </p:cNvPicPr>
          <p:nvPr/>
        </p:nvPicPr>
        <p:blipFill>
          <a:blip r:embed="rId8"/>
          <a:stretch>
            <a:fillRect/>
          </a:stretch>
        </p:blipFill>
        <p:spPr>
          <a:xfrm>
            <a:off x="13544336" y="19540424"/>
            <a:ext cx="4305125" cy="8948163"/>
          </a:xfrm>
          <a:prstGeom prst="rect">
            <a:avLst/>
          </a:prstGeom>
          <a:noFill/>
          <a:ln>
            <a:solidFill>
              <a:schemeClr val="tx1"/>
            </a:solidFill>
          </a:ln>
        </p:spPr>
      </p:pic>
      <p:pic>
        <p:nvPicPr>
          <p:cNvPr id="1032" name="Picture 1031">
            <a:extLst>
              <a:ext uri="{FF2B5EF4-FFF2-40B4-BE49-F238E27FC236}">
                <a16:creationId xmlns:a16="http://schemas.microsoft.com/office/drawing/2014/main" id="{29CA2A34-12B3-9F4D-2BCD-CFDD82140394}"/>
              </a:ext>
            </a:extLst>
          </p:cNvPr>
          <p:cNvPicPr>
            <a:picLocks noChangeAspect="1"/>
          </p:cNvPicPr>
          <p:nvPr/>
        </p:nvPicPr>
        <p:blipFill>
          <a:blip r:embed="rId9"/>
          <a:srcRect b="6277"/>
          <a:stretch/>
        </p:blipFill>
        <p:spPr>
          <a:xfrm>
            <a:off x="18562241" y="19515917"/>
            <a:ext cx="4101870" cy="3010368"/>
          </a:xfrm>
          <a:prstGeom prst="rect">
            <a:avLst/>
          </a:prstGeom>
          <a:ln>
            <a:solidFill>
              <a:schemeClr val="tx1"/>
            </a:solidFill>
          </a:ln>
        </p:spPr>
      </p:pic>
      <p:pic>
        <p:nvPicPr>
          <p:cNvPr id="1033" name="Picture 1032">
            <a:extLst>
              <a:ext uri="{FF2B5EF4-FFF2-40B4-BE49-F238E27FC236}">
                <a16:creationId xmlns:a16="http://schemas.microsoft.com/office/drawing/2014/main" id="{34937289-C15F-C062-EEA1-ED372C84FC7B}"/>
              </a:ext>
            </a:extLst>
          </p:cNvPr>
          <p:cNvPicPr>
            <a:picLocks noChangeAspect="1"/>
          </p:cNvPicPr>
          <p:nvPr/>
        </p:nvPicPr>
        <p:blipFill>
          <a:blip r:embed="rId10"/>
          <a:stretch>
            <a:fillRect/>
          </a:stretch>
        </p:blipFill>
        <p:spPr>
          <a:xfrm>
            <a:off x="12614678" y="5660334"/>
            <a:ext cx="9650202" cy="4294260"/>
          </a:xfrm>
          <a:prstGeom prst="rect">
            <a:avLst/>
          </a:prstGeom>
        </p:spPr>
      </p:pic>
      <p:pic>
        <p:nvPicPr>
          <p:cNvPr id="1034" name="Picture 1033" descr="A pie chart with text and numbers&#10;&#10;Description automatically generated">
            <a:extLst>
              <a:ext uri="{FF2B5EF4-FFF2-40B4-BE49-F238E27FC236}">
                <a16:creationId xmlns:a16="http://schemas.microsoft.com/office/drawing/2014/main" id="{139260A2-24A4-8A05-77F9-DB651368B1E3}"/>
              </a:ext>
            </a:extLst>
          </p:cNvPr>
          <p:cNvPicPr>
            <a:picLocks noChangeAspect="1"/>
          </p:cNvPicPr>
          <p:nvPr/>
        </p:nvPicPr>
        <p:blipFill>
          <a:blip r:embed="rId11"/>
          <a:srcRect r="16881" b="2034"/>
          <a:stretch/>
        </p:blipFill>
        <p:spPr>
          <a:xfrm>
            <a:off x="22507257" y="5575538"/>
            <a:ext cx="9108618" cy="4294260"/>
          </a:xfrm>
          <a:prstGeom prst="rect">
            <a:avLst/>
          </a:prstGeom>
        </p:spPr>
      </p:pic>
      <p:pic>
        <p:nvPicPr>
          <p:cNvPr id="1035" name="Picture 1034">
            <a:extLst>
              <a:ext uri="{FF2B5EF4-FFF2-40B4-BE49-F238E27FC236}">
                <a16:creationId xmlns:a16="http://schemas.microsoft.com/office/drawing/2014/main" id="{0C8315DB-75FC-0D82-63E2-6C5C470C9A3B}"/>
              </a:ext>
            </a:extLst>
          </p:cNvPr>
          <p:cNvPicPr>
            <a:picLocks noChangeAspect="1"/>
          </p:cNvPicPr>
          <p:nvPr/>
        </p:nvPicPr>
        <p:blipFill>
          <a:blip r:embed="rId12"/>
          <a:stretch>
            <a:fillRect/>
          </a:stretch>
        </p:blipFill>
        <p:spPr>
          <a:xfrm>
            <a:off x="19224763" y="24103979"/>
            <a:ext cx="6262710" cy="5134941"/>
          </a:xfrm>
          <a:prstGeom prst="rect">
            <a:avLst/>
          </a:prstGeom>
          <a:ln>
            <a:solidFill>
              <a:schemeClr val="tx1"/>
            </a:solidFill>
          </a:ln>
        </p:spPr>
      </p:pic>
      <p:sp>
        <p:nvSpPr>
          <p:cNvPr id="1039" name="TextBox 1038">
            <a:extLst>
              <a:ext uri="{FF2B5EF4-FFF2-40B4-BE49-F238E27FC236}">
                <a16:creationId xmlns:a16="http://schemas.microsoft.com/office/drawing/2014/main" id="{286C956F-A52B-ADB1-9578-BA8223520F47}"/>
              </a:ext>
            </a:extLst>
          </p:cNvPr>
          <p:cNvSpPr txBox="1"/>
          <p:nvPr/>
        </p:nvSpPr>
        <p:spPr>
          <a:xfrm>
            <a:off x="34783776" y="27016000"/>
            <a:ext cx="6749971"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Acknowledgments and References</a:t>
            </a:r>
            <a:endParaRPr kumimoji="0" lang="en-US" sz="1800" b="0" i="0" u="none" strike="noStrike" kern="1200" cap="none" spc="0" normalizeH="0" baseline="0" noProof="0" dirty="0">
              <a:ln>
                <a:noFill/>
              </a:ln>
              <a:solidFill>
                <a:schemeClr val="bg1"/>
              </a:solidFill>
              <a:effectLst/>
              <a:uLnTx/>
              <a:uFillTx/>
              <a:latin typeface="Aptos" panose="02110004020202020204"/>
              <a:ea typeface="+mn-ea"/>
              <a:cs typeface="+mn-cs"/>
            </a:endParaRPr>
          </a:p>
        </p:txBody>
      </p:sp>
      <p:pic>
        <p:nvPicPr>
          <p:cNvPr id="1053" name="Content Placeholder 3" descr="A screenshot of a computer&#10;&#10;Description automatically generated">
            <a:extLst>
              <a:ext uri="{FF2B5EF4-FFF2-40B4-BE49-F238E27FC236}">
                <a16:creationId xmlns:a16="http://schemas.microsoft.com/office/drawing/2014/main" id="{7A874D23-76C5-5665-4AA8-83D505367C80}"/>
              </a:ext>
            </a:extLst>
          </p:cNvPr>
          <p:cNvPicPr>
            <a:picLocks noChangeAspect="1"/>
          </p:cNvPicPr>
          <p:nvPr/>
        </p:nvPicPr>
        <p:blipFill rotWithShape="1">
          <a:blip r:embed="rId13"/>
          <a:srcRect l="50653" t="9137" r="-10651" b="7776"/>
          <a:stretch/>
        </p:blipFill>
        <p:spPr>
          <a:xfrm>
            <a:off x="23566381" y="13981060"/>
            <a:ext cx="3620726" cy="4833173"/>
          </a:xfrm>
          <a:prstGeom prst="rect">
            <a:avLst/>
          </a:prstGeom>
        </p:spPr>
      </p:pic>
      <p:sp>
        <p:nvSpPr>
          <p:cNvPr id="1054" name="Oval 1053">
            <a:extLst>
              <a:ext uri="{FF2B5EF4-FFF2-40B4-BE49-F238E27FC236}">
                <a16:creationId xmlns:a16="http://schemas.microsoft.com/office/drawing/2014/main" id="{FE927B6F-0AFA-9CDF-E017-72AA2BB6ACF1}"/>
              </a:ext>
            </a:extLst>
          </p:cNvPr>
          <p:cNvSpPr/>
          <p:nvPr/>
        </p:nvSpPr>
        <p:spPr>
          <a:xfrm>
            <a:off x="13218941" y="9454301"/>
            <a:ext cx="1158240" cy="429168"/>
          </a:xfrm>
          <a:prstGeom prst="ellipse">
            <a:avLst/>
          </a:prstGeom>
          <a:solidFill>
            <a:srgbClr val="FF0000">
              <a:alpha val="0"/>
            </a:srgbClr>
          </a:solidFill>
          <a:ln w="28575">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93C52C28-C60A-29A6-65F8-7142894B35B9}"/>
              </a:ext>
            </a:extLst>
          </p:cNvPr>
          <p:cNvSpPr/>
          <p:nvPr/>
        </p:nvSpPr>
        <p:spPr>
          <a:xfrm>
            <a:off x="20475059" y="8350384"/>
            <a:ext cx="949669" cy="558437"/>
          </a:xfrm>
          <a:prstGeom prst="ellipse">
            <a:avLst/>
          </a:prstGeom>
          <a:solidFill>
            <a:srgbClr val="FF0000">
              <a:alpha val="0"/>
            </a:srgbClr>
          </a:solidFill>
          <a:ln w="28575">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CBB9DF31-A835-C8B9-3F2E-FAFB47A161A8}"/>
              </a:ext>
            </a:extLst>
          </p:cNvPr>
          <p:cNvSpPr/>
          <p:nvPr/>
        </p:nvSpPr>
        <p:spPr>
          <a:xfrm>
            <a:off x="22619979" y="6069552"/>
            <a:ext cx="2192411" cy="1678708"/>
          </a:xfrm>
          <a:prstGeom prst="ellipse">
            <a:avLst/>
          </a:prstGeom>
          <a:solidFill>
            <a:srgbClr val="FF0000">
              <a:alpha val="0"/>
            </a:srgbClr>
          </a:solidFill>
          <a:ln w="28575">
            <a:solidFill>
              <a:srgbClr val="BA0C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TextBox 1057">
            <a:extLst>
              <a:ext uri="{FF2B5EF4-FFF2-40B4-BE49-F238E27FC236}">
                <a16:creationId xmlns:a16="http://schemas.microsoft.com/office/drawing/2014/main" id="{BE5525C9-9641-D3A0-4FF6-975895BDBC87}"/>
              </a:ext>
            </a:extLst>
          </p:cNvPr>
          <p:cNvSpPr txBox="1"/>
          <p:nvPr/>
        </p:nvSpPr>
        <p:spPr>
          <a:xfrm>
            <a:off x="18607152" y="22635566"/>
            <a:ext cx="5065102" cy="9233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4. </a:t>
            </a:r>
            <a:r>
              <a:rPr lang="en-US" dirty="0">
                <a:solidFill>
                  <a:prstClr val="black"/>
                </a:solidFill>
                <a:latin typeface="Times New Roman" panose="02020603050405020304" pitchFamily="18" charset="0"/>
                <a:cs typeface="Times New Roman" panose="02020603050405020304" pitchFamily="18" charset="0"/>
              </a:rPr>
              <a:t>Spaghetti Monster Fluorescent Protein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a:t>
            </a:r>
            <a:r>
              <a:rPr kumimoji="0" lang="en-US" sz="180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diagram with antibodies bound to it. Resembles the flying spaghetti monster deity.</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TextBox 8">
            <a:extLst>
              <a:ext uri="{FF2B5EF4-FFF2-40B4-BE49-F238E27FC236}">
                <a16:creationId xmlns:a16="http://schemas.microsoft.com/office/drawing/2014/main" id="{541AE4BC-F562-4A66-498D-FEB55C56848B}"/>
              </a:ext>
            </a:extLst>
          </p:cNvPr>
          <p:cNvSpPr txBox="1"/>
          <p:nvPr/>
        </p:nvSpPr>
        <p:spPr>
          <a:xfrm>
            <a:off x="12387296" y="10620705"/>
            <a:ext cx="18999775"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2. </a:t>
            </a:r>
            <a:r>
              <a:rPr lang="en-US" dirty="0">
                <a:solidFill>
                  <a:prstClr val="black"/>
                </a:solidFill>
                <a:latin typeface="Times New Roman" panose="02020603050405020304" pitchFamily="18" charset="0"/>
                <a:cs typeface="Times New Roman" panose="02020603050405020304" pitchFamily="18" charset="0"/>
              </a:rPr>
              <a:t>Pie chart demonstrating the significance of synaptic transmission. Although the brain makes up around 2% of the body’s mass, the brain consumes approximately 20% of the basal metabolic rate. 34% of the brain’s expenditure is devoted to synaptic transmission. Synaptic transmission consumes a significant portion of the body’s energy.</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8" name="TextBox 17">
            <a:extLst>
              <a:ext uri="{FF2B5EF4-FFF2-40B4-BE49-F238E27FC236}">
                <a16:creationId xmlns:a16="http://schemas.microsoft.com/office/drawing/2014/main" id="{287C82D3-482E-FD5A-3EB3-5E66B9F127BD}"/>
              </a:ext>
            </a:extLst>
          </p:cNvPr>
          <p:cNvSpPr txBox="1"/>
          <p:nvPr/>
        </p:nvSpPr>
        <p:spPr>
          <a:xfrm>
            <a:off x="26048487" y="28125929"/>
            <a:ext cx="5202266"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6. </a:t>
            </a:r>
            <a:r>
              <a:rPr lang="en-US" dirty="0">
                <a:solidFill>
                  <a:prstClr val="black"/>
                </a:solidFill>
                <a:latin typeface="Times New Roman" panose="02020603050405020304" pitchFamily="18" charset="0"/>
                <a:cs typeface="Times New Roman" panose="02020603050405020304" pitchFamily="18" charset="0"/>
              </a:rPr>
              <a:t>Glycolytic pathway. Enzymes that are tagged with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 and </a:t>
            </a:r>
            <a:r>
              <a:rPr lang="en-US" dirty="0" err="1">
                <a:solidFill>
                  <a:prstClr val="black"/>
                </a:solidFill>
                <a:latin typeface="Times New Roman" panose="02020603050405020304" pitchFamily="18" charset="0"/>
                <a:cs typeface="Times New Roman" panose="02020603050405020304" pitchFamily="18" charset="0"/>
              </a:rPr>
              <a:t>myc</a:t>
            </a:r>
            <a:r>
              <a:rPr lang="en-US" dirty="0">
                <a:solidFill>
                  <a:prstClr val="black"/>
                </a:solidFill>
                <a:latin typeface="Times New Roman" panose="02020603050405020304" pitchFamily="18" charset="0"/>
                <a:cs typeface="Times New Roman" panose="02020603050405020304" pitchFamily="18" charset="0"/>
              </a:rPr>
              <a:t> are starred with yellow. Hexokinase, which is to be soon tagged, is starred with blue.</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a:extLst>
              <a:ext uri="{FF2B5EF4-FFF2-40B4-BE49-F238E27FC236}">
                <a16:creationId xmlns:a16="http://schemas.microsoft.com/office/drawing/2014/main" id="{48614FBC-5BB8-40FD-C29F-FAE5AB0E6695}"/>
              </a:ext>
            </a:extLst>
          </p:cNvPr>
          <p:cNvSpPr txBox="1"/>
          <p:nvPr/>
        </p:nvSpPr>
        <p:spPr>
          <a:xfrm>
            <a:off x="13437118" y="28627771"/>
            <a:ext cx="4639867" cy="3416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3. </a:t>
            </a:r>
            <a:r>
              <a:rPr lang="en-US" dirty="0">
                <a:solidFill>
                  <a:prstClr val="black"/>
                </a:solidFill>
                <a:latin typeface="Times New Roman" panose="02020603050405020304" pitchFamily="18" charset="0"/>
                <a:cs typeface="Times New Roman" panose="02020603050405020304" pitchFamily="18" charset="0"/>
              </a:rPr>
              <a:t>Diagram depicting the steps of fluorescent labeling. CRISPR/Cas9 machinery is implemented into plasmids. Once transfected into cortical neurons, the CRISPR/Cas9 machinery is expressed and activated, targeting specific glycolytic enzyme genes. Using the ORANGE method, the machinery results in the attachment of the </a:t>
            </a:r>
            <a:r>
              <a:rPr lang="en-US" dirty="0" err="1">
                <a:solidFill>
                  <a:prstClr val="black"/>
                </a:solidFill>
                <a:latin typeface="Times New Roman" panose="02020603050405020304" pitchFamily="18" charset="0"/>
                <a:cs typeface="Times New Roman" panose="02020603050405020304" pitchFamily="18" charset="0"/>
              </a:rPr>
              <a:t>smFP</a:t>
            </a:r>
            <a:r>
              <a:rPr lang="en-US" dirty="0">
                <a:solidFill>
                  <a:prstClr val="black"/>
                </a:solidFill>
                <a:latin typeface="Times New Roman" panose="02020603050405020304" pitchFamily="18" charset="0"/>
                <a:cs typeface="Times New Roman" panose="02020603050405020304" pitchFamily="18" charset="0"/>
              </a:rPr>
              <a:t> tag to the desired glycolytic enzymes. The fluorescence from these tagged glycolytic enzymes is then visualized and analyzed using high-resolution microscopy.</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5593DF8F-9A40-83FA-017A-1F4C91DF432D}"/>
              </a:ext>
            </a:extLst>
          </p:cNvPr>
          <p:cNvSpPr txBox="1"/>
          <p:nvPr/>
        </p:nvSpPr>
        <p:spPr>
          <a:xfrm>
            <a:off x="19128337" y="29411885"/>
            <a:ext cx="67578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Figure 5. </a:t>
            </a:r>
            <a:r>
              <a:rPr lang="en-US" dirty="0">
                <a:solidFill>
                  <a:prstClr val="black"/>
                </a:solidFill>
                <a:latin typeface="Times New Roman" panose="02020603050405020304" pitchFamily="18" charset="0"/>
                <a:cs typeface="Times New Roman" panose="02020603050405020304" pitchFamily="18" charset="0"/>
              </a:rPr>
              <a:t>Diagram depicting the transfection process in detail. Rat pups are extracted from pregnant mothers at Embryonic Day 17 (E17). The cerebral cortex is extracted for the pups to harvest cortical neurons which are dissociated gently with papain into a single-cell suspension and plated. The neurons are then imaged, and fluorescence is analyzed. </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046" name="Rectangle 1045">
            <a:extLst>
              <a:ext uri="{FF2B5EF4-FFF2-40B4-BE49-F238E27FC236}">
                <a16:creationId xmlns:a16="http://schemas.microsoft.com/office/drawing/2014/main" id="{B7BA25E7-3F79-D407-137C-47E8D065B79D}"/>
              </a:ext>
            </a:extLst>
          </p:cNvPr>
          <p:cNvSpPr/>
          <p:nvPr/>
        </p:nvSpPr>
        <p:spPr>
          <a:xfrm>
            <a:off x="30952440" y="9616440"/>
            <a:ext cx="905812" cy="5558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38BC453E-9165-8B00-BE4D-36C1D95D9C41}"/>
              </a:ext>
            </a:extLst>
          </p:cNvPr>
          <p:cNvSpPr/>
          <p:nvPr/>
        </p:nvSpPr>
        <p:spPr>
          <a:xfrm>
            <a:off x="13798060" y="26474872"/>
            <a:ext cx="3926059" cy="2329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red and yellow veins in a dark background">
            <a:extLst>
              <a:ext uri="{FF2B5EF4-FFF2-40B4-BE49-F238E27FC236}">
                <a16:creationId xmlns:a16="http://schemas.microsoft.com/office/drawing/2014/main" id="{7F694809-C748-9C47-AC52-73196C0966A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2493551" y="27168368"/>
            <a:ext cx="1935412" cy="1935412"/>
          </a:xfrm>
          <a:prstGeom prst="rect">
            <a:avLst/>
          </a:prstGeom>
        </p:spPr>
      </p:pic>
      <p:sp>
        <p:nvSpPr>
          <p:cNvPr id="15" name="Rectangle 14">
            <a:extLst>
              <a:ext uri="{FF2B5EF4-FFF2-40B4-BE49-F238E27FC236}">
                <a16:creationId xmlns:a16="http://schemas.microsoft.com/office/drawing/2014/main" id="{A10B6981-CA28-6319-C74B-C75A6245F20A}"/>
              </a:ext>
            </a:extLst>
          </p:cNvPr>
          <p:cNvSpPr/>
          <p:nvPr/>
        </p:nvSpPr>
        <p:spPr>
          <a:xfrm>
            <a:off x="22556319" y="26783635"/>
            <a:ext cx="1702621" cy="3561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0397F99-8599-E926-B92D-13E1B4F4DEBC}"/>
              </a:ext>
            </a:extLst>
          </p:cNvPr>
          <p:cNvSpPr/>
          <p:nvPr/>
        </p:nvSpPr>
        <p:spPr>
          <a:xfrm>
            <a:off x="8623138" y="25287857"/>
            <a:ext cx="238793" cy="6359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8FB3CEB-7852-61BD-C0C0-79E29A406FFE}"/>
              </a:ext>
            </a:extLst>
          </p:cNvPr>
          <p:cNvSpPr/>
          <p:nvPr/>
        </p:nvSpPr>
        <p:spPr>
          <a:xfrm>
            <a:off x="14412323" y="22015048"/>
            <a:ext cx="1010710" cy="415178"/>
          </a:xfrm>
          <a:prstGeom prst="rect">
            <a:avLst/>
          </a:prstGeom>
          <a:solidFill>
            <a:srgbClr val="8FCF4C"/>
          </a:solidFill>
          <a:ln>
            <a:solidFill>
              <a:srgbClr val="8FCF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41A1A69-8154-EF1D-84C5-71F86D8DDB6A}"/>
              </a:ext>
            </a:extLst>
          </p:cNvPr>
          <p:cNvSpPr/>
          <p:nvPr/>
        </p:nvSpPr>
        <p:spPr>
          <a:xfrm>
            <a:off x="15425633" y="23150554"/>
            <a:ext cx="1010710" cy="350821"/>
          </a:xfrm>
          <a:prstGeom prst="rect">
            <a:avLst/>
          </a:prstGeom>
          <a:solidFill>
            <a:srgbClr val="8FCF4C"/>
          </a:solidFill>
          <a:ln>
            <a:solidFill>
              <a:srgbClr val="8FCF4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970E053-235D-A3D4-8F5B-2D97383B8764}"/>
              </a:ext>
            </a:extLst>
          </p:cNvPr>
          <p:cNvSpPr txBox="1"/>
          <p:nvPr/>
        </p:nvSpPr>
        <p:spPr>
          <a:xfrm>
            <a:off x="14509671" y="22017176"/>
            <a:ext cx="913363" cy="366383"/>
          </a:xfrm>
          <a:prstGeom prst="rect">
            <a:avLst/>
          </a:prstGeom>
          <a:noFill/>
        </p:spPr>
        <p:txBody>
          <a:bodyPr wrap="square" rtlCol="0">
            <a:spAutoFit/>
          </a:bodyPr>
          <a:lstStyle/>
          <a:p>
            <a:r>
              <a:rPr lang="en-US" dirty="0" err="1">
                <a:solidFill>
                  <a:schemeClr val="bg1"/>
                </a:solidFill>
              </a:rPr>
              <a:t>smFP</a:t>
            </a:r>
            <a:endParaRPr lang="en-US" dirty="0">
              <a:solidFill>
                <a:schemeClr val="bg1"/>
              </a:solidFill>
            </a:endParaRPr>
          </a:p>
        </p:txBody>
      </p:sp>
      <p:sp>
        <p:nvSpPr>
          <p:cNvPr id="29" name="TextBox 28">
            <a:extLst>
              <a:ext uri="{FF2B5EF4-FFF2-40B4-BE49-F238E27FC236}">
                <a16:creationId xmlns:a16="http://schemas.microsoft.com/office/drawing/2014/main" id="{57310DC9-84D7-90C2-2FAD-6602B390AA19}"/>
              </a:ext>
            </a:extLst>
          </p:cNvPr>
          <p:cNvSpPr txBox="1"/>
          <p:nvPr/>
        </p:nvSpPr>
        <p:spPr>
          <a:xfrm>
            <a:off x="15491257" y="23134992"/>
            <a:ext cx="913363" cy="366383"/>
          </a:xfrm>
          <a:prstGeom prst="rect">
            <a:avLst/>
          </a:prstGeom>
          <a:noFill/>
        </p:spPr>
        <p:txBody>
          <a:bodyPr wrap="square" rtlCol="0">
            <a:spAutoFit/>
          </a:bodyPr>
          <a:lstStyle/>
          <a:p>
            <a:r>
              <a:rPr lang="en-US" dirty="0" err="1">
                <a:solidFill>
                  <a:schemeClr val="bg1"/>
                </a:solidFill>
              </a:rPr>
              <a:t>smFP</a:t>
            </a:r>
            <a:endParaRPr lang="en-US" dirty="0">
              <a:solidFill>
                <a:schemeClr val="bg1"/>
              </a:solidFill>
            </a:endParaRPr>
          </a:p>
        </p:txBody>
      </p:sp>
      <p:pic>
        <p:nvPicPr>
          <p:cNvPr id="30" name="Picture 29" descr="A green lightning in the dark">
            <a:extLst>
              <a:ext uri="{FF2B5EF4-FFF2-40B4-BE49-F238E27FC236}">
                <a16:creationId xmlns:a16="http://schemas.microsoft.com/office/drawing/2014/main" id="{FF0FD3B5-80B7-FD2F-F239-7261352FEAE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3747880" y="23734844"/>
            <a:ext cx="3926059" cy="2693361"/>
          </a:xfrm>
          <a:prstGeom prst="rect">
            <a:avLst/>
          </a:prstGeom>
        </p:spPr>
      </p:pic>
    </p:spTree>
    <p:extLst>
      <p:ext uri="{BB962C8B-B14F-4D97-AF65-F5344CB8AC3E}">
        <p14:creationId xmlns:p14="http://schemas.microsoft.com/office/powerpoint/2010/main" val="50292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1DA753C68AC4489DA4FFDFDEACBBC3" ma:contentTypeVersion="9" ma:contentTypeDescription="Create a new document." ma:contentTypeScope="" ma:versionID="ca20b7a155e5df1aa6b14ff4c8324cd9">
  <xsd:schema xmlns:xsd="http://www.w3.org/2001/XMLSchema" xmlns:xs="http://www.w3.org/2001/XMLSchema" xmlns:p="http://schemas.microsoft.com/office/2006/metadata/properties" xmlns:ns3="1df4aa68-f68e-46f6-9bcf-d997da096333" xmlns:ns4="c7e9ad05-0834-4b8b-a3fe-cc50fcc29a08" targetNamespace="http://schemas.microsoft.com/office/2006/metadata/properties" ma:root="true" ma:fieldsID="ec8df4ebf02e055349fd652bb360a7f9" ns3:_="" ns4:_="">
    <xsd:import namespace="1df4aa68-f68e-46f6-9bcf-d997da096333"/>
    <xsd:import namespace="c7e9ad05-0834-4b8b-a3fe-cc50fcc29a08"/>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f4aa68-f68e-46f6-9bcf-d997da0963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e9ad05-0834-4b8b-a3fe-cc50fcc29a0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df4aa68-f68e-46f6-9bcf-d997da096333" xsi:nil="true"/>
  </documentManagement>
</p:properties>
</file>

<file path=customXml/itemProps1.xml><?xml version="1.0" encoding="utf-8"?>
<ds:datastoreItem xmlns:ds="http://schemas.openxmlformats.org/officeDocument/2006/customXml" ds:itemID="{D7475135-1EA8-4AC8-8C48-58B6524E0C68}">
  <ds:schemaRefs>
    <ds:schemaRef ds:uri="http://schemas.microsoft.com/sharepoint/v3/contenttype/forms"/>
  </ds:schemaRefs>
</ds:datastoreItem>
</file>

<file path=customXml/itemProps2.xml><?xml version="1.0" encoding="utf-8"?>
<ds:datastoreItem xmlns:ds="http://schemas.openxmlformats.org/officeDocument/2006/customXml" ds:itemID="{9351A39D-DE56-452B-B9AA-B476F8158E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f4aa68-f68e-46f6-9bcf-d997da096333"/>
    <ds:schemaRef ds:uri="c7e9ad05-0834-4b8b-a3fe-cc50fcc29a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0DAFE52-7962-4853-A602-959B710448C5}">
  <ds:schemaRefs>
    <ds:schemaRef ds:uri="http://www.w3.org/XML/1998/namespace"/>
    <ds:schemaRef ds:uri="1df4aa68-f68e-46f6-9bcf-d997da096333"/>
    <ds:schemaRef ds:uri="http://purl.org/dc/elements/1.1/"/>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c7e9ad05-0834-4b8b-a3fe-cc50fcc29a08"/>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2248</TotalTime>
  <Words>967</Words>
  <Application>Microsoft Office PowerPoint</Application>
  <PresentationFormat>Custom</PresentationFormat>
  <Paragraphs>34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Harvey, Davin</dc:creator>
  <cp:lastModifiedBy>Harvey, Davin</cp:lastModifiedBy>
  <cp:revision>5</cp:revision>
  <cp:lastPrinted>2025-04-04T21:55:06Z</cp:lastPrinted>
  <dcterms:created xsi:type="dcterms:W3CDTF">2025-03-21T19:39:25Z</dcterms:created>
  <dcterms:modified xsi:type="dcterms:W3CDTF">2026-05-09T16:12:33Z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0x010100131DA753C68AC4489DA4FFDFDEACBBC3</vt:lpwstr>
  </property>
</Properties>
</file>